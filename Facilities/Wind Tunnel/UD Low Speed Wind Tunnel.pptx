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2" r:id="rId2"/>
    <p:sldId id="263" r:id="rId3"/>
    <p:sldId id="264" r:id="rId4"/>
    <p:sldId id="280" r:id="rId5"/>
    <p:sldId id="279" r:id="rId6"/>
    <p:sldId id="258" r:id="rId7"/>
    <p:sldId id="261" r:id="rId8"/>
    <p:sldId id="28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7D"/>
    <a:srgbClr val="ADBECA"/>
    <a:srgbClr val="FFC0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13"/>
    <p:restoredTop sz="96311"/>
  </p:normalViewPr>
  <p:slideViewPr>
    <p:cSldViewPr snapToGrid="0" snapToObjects="1">
      <p:cViewPr varScale="1">
        <p:scale>
          <a:sx n="79" d="100"/>
          <a:sy n="79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9083B-D6DB-B040-AC81-A9BE06078D3D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88A6E-950E-1A4E-BEA6-5DDC6C991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8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A6E-950E-1A4E-BEA6-5DDC6C991A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01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A6E-950E-1A4E-BEA6-5DDC6C991A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54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A6E-950E-1A4E-BEA6-5DDC6C991A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26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A6E-950E-1A4E-BEA6-5DDC6C991A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3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488A6E-950E-1A4E-BEA6-5DDC6C991A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0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38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4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5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9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9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1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4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9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2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774C-8C44-C444-8504-143C3124EEC3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C7991-1E8A-B049-8906-1DEE978C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71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unasekarans1@udayton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90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70.png"/><Relationship Id="rId5" Type="http://schemas.microsoft.com/office/2007/relationships/hdphoto" Target="../media/hdphoto1.wdp"/><Relationship Id="rId15" Type="http://schemas.openxmlformats.org/officeDocument/2006/relationships/image" Target="../media/image310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B8B4-A821-CE4B-A237-09930337F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097" y="346038"/>
            <a:ext cx="8253805" cy="735106"/>
          </a:xfrm>
        </p:spPr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Dayton Wind Tunnel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576BB-0BCD-5048-97EC-6C8880A88BE7}"/>
              </a:ext>
            </a:extLst>
          </p:cNvPr>
          <p:cNvSpPr txBox="1"/>
          <p:nvPr/>
        </p:nvSpPr>
        <p:spPr>
          <a:xfrm>
            <a:off x="252997" y="6065152"/>
            <a:ext cx="7476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</a:rPr>
              <a:t>Director</a:t>
            </a:r>
            <a:r>
              <a:rPr lang="en-US" sz="1400" dirty="0">
                <a:latin typeface="Cambria" panose="02040503050406030204" pitchFamily="18" charset="0"/>
              </a:rPr>
              <a:t>: Dr. Sidaard Gunasekaran</a:t>
            </a:r>
            <a:r>
              <a:rPr lang="en-US" sz="1400">
                <a:latin typeface="Cambria" panose="02040503050406030204" pitchFamily="18" charset="0"/>
              </a:rPr>
              <a:t>, Associate </a:t>
            </a:r>
            <a:r>
              <a:rPr lang="en-US" sz="1400" dirty="0">
                <a:latin typeface="Cambria" panose="02040503050406030204" pitchFamily="18" charset="0"/>
              </a:rPr>
              <a:t>Professor, Mechanical and Aerospace Department</a:t>
            </a:r>
          </a:p>
          <a:p>
            <a:r>
              <a:rPr lang="en-US" sz="1400" dirty="0">
                <a:latin typeface="Cambria" panose="02040503050406030204" pitchFamily="18" charset="0"/>
                <a:hlinkClick r:id="rId3"/>
              </a:rPr>
              <a:t>gunasekarans1@udayton.edu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C63EEB-2B58-4259-9111-BC33EFE5F32F}"/>
              </a:ext>
            </a:extLst>
          </p:cNvPr>
          <p:cNvGrpSpPr/>
          <p:nvPr/>
        </p:nvGrpSpPr>
        <p:grpSpPr>
          <a:xfrm>
            <a:off x="252997" y="1195228"/>
            <a:ext cx="8795208" cy="4810717"/>
            <a:chOff x="252997" y="1195228"/>
            <a:chExt cx="8795208" cy="481071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C295BC0-109E-4A3E-BA40-12BF474F3829}"/>
                </a:ext>
              </a:extLst>
            </p:cNvPr>
            <p:cNvGrpSpPr/>
            <p:nvPr/>
          </p:nvGrpSpPr>
          <p:grpSpPr>
            <a:xfrm>
              <a:off x="252997" y="1195228"/>
              <a:ext cx="8795208" cy="4810717"/>
              <a:chOff x="348792" y="942680"/>
              <a:chExt cx="8795208" cy="5194169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F8983C9-E7D7-4920-8770-926CE7D3C54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48792" y="942680"/>
                <a:ext cx="8795208" cy="5194169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98D0A5-E6B0-4BB8-ABA3-953B8A955984}"/>
                  </a:ext>
                </a:extLst>
              </p:cNvPr>
              <p:cNvSpPr txBox="1"/>
              <p:nvPr/>
            </p:nvSpPr>
            <p:spPr>
              <a:xfrm>
                <a:off x="6259398" y="2894029"/>
                <a:ext cx="143423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ambria" panose="02040503050406030204" pitchFamily="18" charset="0"/>
                  </a:rPr>
                  <a:t>Contraction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3E1AB6D-F17D-46EC-94F8-28D3FFDA72D1}"/>
                  </a:ext>
                </a:extLst>
              </p:cNvPr>
              <p:cNvSpPr txBox="1"/>
              <p:nvPr/>
            </p:nvSpPr>
            <p:spPr>
              <a:xfrm>
                <a:off x="348792" y="2255176"/>
                <a:ext cx="56406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ambria" panose="02040503050406030204" pitchFamily="18" charset="0"/>
                  </a:rPr>
                  <a:t>Fan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D746390C-7ED2-49AD-B094-01A2E0D6ABDC}"/>
                  </a:ext>
                </a:extLst>
              </p:cNvPr>
              <p:cNvCxnSpPr/>
              <p:nvPr/>
            </p:nvCxnSpPr>
            <p:spPr>
              <a:xfrm>
                <a:off x="772998" y="2624508"/>
                <a:ext cx="94268" cy="344935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8BDFEA-1893-4E42-AC82-B6CE1A7E53AB}"/>
                </a:ext>
              </a:extLst>
            </p:cNvPr>
            <p:cNvSpPr txBox="1"/>
            <p:nvPr/>
          </p:nvSpPr>
          <p:spPr>
            <a:xfrm>
              <a:off x="2230386" y="2023850"/>
              <a:ext cx="100059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ambria" panose="02040503050406030204" pitchFamily="18" charset="0"/>
                </a:rPr>
                <a:t>Plenum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3310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FC4D-4B79-EB4B-9BAD-4189C396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0" y="0"/>
            <a:ext cx="3390588" cy="86303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64E124-B3CA-C441-A161-55907622E168}"/>
              </a:ext>
            </a:extLst>
          </p:cNvPr>
          <p:cNvSpPr/>
          <p:nvPr/>
        </p:nvSpPr>
        <p:spPr>
          <a:xfrm>
            <a:off x="72002" y="819480"/>
            <a:ext cx="3827088" cy="3810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Eiffel Type w/16:1 Contraction Ratio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30” X 30” X 90” closed jet Test Section  (~0.75 X 0.75 X 2.3 m)/Open jet 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Anti-Turbulence Screens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HP (45 KW) Fan by Hartzell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Turbulence Intensity &lt; 0.1%   (by Hot-Wire) in open jet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Speeds from 6.7 m/s (20 ft/s) to 36.7 m/s (120 ft/s)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Reynolds number range: 100,000 to 500,000 (Bluff and streamlined bodies)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Interchangeable closed jet Test Sections</a:t>
            </a:r>
          </a:p>
          <a:p>
            <a:pPr marL="342892" indent="-342892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Shuttering System (Gust generator)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25D362-D333-D246-9E9B-78AA6DED1D38}"/>
              </a:ext>
            </a:extLst>
          </p:cNvPr>
          <p:cNvGrpSpPr/>
          <p:nvPr/>
        </p:nvGrpSpPr>
        <p:grpSpPr>
          <a:xfrm>
            <a:off x="3877146" y="110836"/>
            <a:ext cx="5244910" cy="3278036"/>
            <a:chOff x="2397483" y="1373744"/>
            <a:chExt cx="5772151" cy="3438728"/>
          </a:xfrm>
        </p:grpSpPr>
        <p:pic>
          <p:nvPicPr>
            <p:cNvPr id="12" name="Picture 11" descr="A large room&#10;&#10;Description automatically generated">
              <a:extLst>
                <a:ext uri="{FF2B5EF4-FFF2-40B4-BE49-F238E27FC236}">
                  <a16:creationId xmlns:a16="http://schemas.microsoft.com/office/drawing/2014/main" id="{2B613EA0-D778-1C43-BC44-0168AE000F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397483" y="1373744"/>
              <a:ext cx="5772151" cy="343872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F7B8EC-4654-F54E-8721-06AAF024527F}"/>
                </a:ext>
              </a:extLst>
            </p:cNvPr>
            <p:cNvSpPr txBox="1"/>
            <p:nvPr/>
          </p:nvSpPr>
          <p:spPr>
            <a:xfrm>
              <a:off x="4278867" y="1465396"/>
              <a:ext cx="1112362" cy="6780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Test Section Inlet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3BC9A2C-87FA-964C-8CE9-401157D28F31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5391228" y="1804404"/>
              <a:ext cx="1867411" cy="192231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199011B-0415-354C-BD4C-C71D59955DD2}"/>
                </a:ext>
              </a:extLst>
            </p:cNvPr>
            <p:cNvSpPr txBox="1"/>
            <p:nvPr/>
          </p:nvSpPr>
          <p:spPr>
            <a:xfrm>
              <a:off x="6346593" y="3093108"/>
              <a:ext cx="1192489" cy="4842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Direction of Freestream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88178A-2D27-DC49-82F4-291AC263835C}"/>
                </a:ext>
              </a:extLst>
            </p:cNvPr>
            <p:cNvSpPr txBox="1"/>
            <p:nvPr/>
          </p:nvSpPr>
          <p:spPr>
            <a:xfrm>
              <a:off x="2539575" y="4293926"/>
              <a:ext cx="1052040" cy="29057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Collector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4E12928-D008-2245-850E-AE427CB4B41C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V="1">
              <a:off x="3065595" y="3429000"/>
              <a:ext cx="255120" cy="864926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rrow: Right 22">
              <a:extLst>
                <a:ext uri="{FF2B5EF4-FFF2-40B4-BE49-F238E27FC236}">
                  <a16:creationId xmlns:a16="http://schemas.microsoft.com/office/drawing/2014/main" id="{30F2CD1B-B870-314C-8946-68B2119B7F70}"/>
                </a:ext>
              </a:extLst>
            </p:cNvPr>
            <p:cNvSpPr/>
            <p:nvPr/>
          </p:nvSpPr>
          <p:spPr>
            <a:xfrm rot="10800000">
              <a:off x="6627041" y="2081535"/>
              <a:ext cx="631596" cy="192230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0" name="Arrow: Right 24">
              <a:extLst>
                <a:ext uri="{FF2B5EF4-FFF2-40B4-BE49-F238E27FC236}">
                  <a16:creationId xmlns:a16="http://schemas.microsoft.com/office/drawing/2014/main" id="{EDB0BC9D-72BF-3547-8794-A85015642C5F}"/>
                </a:ext>
              </a:extLst>
            </p:cNvPr>
            <p:cNvSpPr/>
            <p:nvPr/>
          </p:nvSpPr>
          <p:spPr>
            <a:xfrm rot="10800000">
              <a:off x="6627044" y="2427295"/>
              <a:ext cx="631598" cy="215172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1" name="Arrow: Right 25">
              <a:extLst>
                <a:ext uri="{FF2B5EF4-FFF2-40B4-BE49-F238E27FC236}">
                  <a16:creationId xmlns:a16="http://schemas.microsoft.com/office/drawing/2014/main" id="{3B24AC72-3EC5-AD45-AF53-B6A1A9EB0979}"/>
                </a:ext>
              </a:extLst>
            </p:cNvPr>
            <p:cNvSpPr/>
            <p:nvPr/>
          </p:nvSpPr>
          <p:spPr>
            <a:xfrm rot="10800000">
              <a:off x="6627041" y="2794448"/>
              <a:ext cx="631598" cy="215172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CACCEDC-74A0-3D49-B71C-DA7FE0830179}"/>
              </a:ext>
            </a:extLst>
          </p:cNvPr>
          <p:cNvGrpSpPr/>
          <p:nvPr/>
        </p:nvGrpSpPr>
        <p:grpSpPr>
          <a:xfrm>
            <a:off x="169604" y="3366233"/>
            <a:ext cx="8974396" cy="3491767"/>
            <a:chOff x="169604" y="3366233"/>
            <a:chExt cx="8974396" cy="349176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202B822-77F4-3349-8989-A302BD689C0F}"/>
                </a:ext>
              </a:extLst>
            </p:cNvPr>
            <p:cNvGrpSpPr/>
            <p:nvPr/>
          </p:nvGrpSpPr>
          <p:grpSpPr>
            <a:xfrm>
              <a:off x="169604" y="3366233"/>
              <a:ext cx="8974396" cy="3491767"/>
              <a:chOff x="169604" y="3366233"/>
              <a:chExt cx="8974396" cy="349176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C708DB1-F724-664C-B6B6-1DA79991BF37}"/>
                  </a:ext>
                </a:extLst>
              </p:cNvPr>
              <p:cNvGrpSpPr/>
              <p:nvPr/>
            </p:nvGrpSpPr>
            <p:grpSpPr>
              <a:xfrm>
                <a:off x="169604" y="3366233"/>
                <a:ext cx="8974396" cy="3491767"/>
                <a:chOff x="169604" y="3366233"/>
                <a:chExt cx="8974396" cy="3491767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3603CED9-80B8-6D41-A79A-AB7A89392960}"/>
                    </a:ext>
                  </a:extLst>
                </p:cNvPr>
                <p:cNvPicPr/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t="-211"/>
                <a:stretch/>
              </p:blipFill>
              <p:spPr bwMode="auto">
                <a:xfrm>
                  <a:off x="169604" y="4662849"/>
                  <a:ext cx="5019987" cy="20219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5FFB683E-6530-8C46-8D8F-91EB478117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clrChange>
                    <a:clrFrom>
                      <a:srgbClr val="FAFBFC"/>
                    </a:clrFrom>
                    <a:clrTo>
                      <a:srgbClr val="FAFBFC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639317" y="3376327"/>
                  <a:ext cx="4504683" cy="3481673"/>
                </a:xfrm>
                <a:prstGeom prst="rect">
                  <a:avLst/>
                </a:prstGeom>
              </p:spPr>
            </p:pic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2078BFD-6C15-6F44-A4AF-8E5BA7E83159}"/>
                    </a:ext>
                  </a:extLst>
                </p:cNvPr>
                <p:cNvSpPr txBox="1"/>
                <p:nvPr/>
              </p:nvSpPr>
              <p:spPr>
                <a:xfrm>
                  <a:off x="8231571" y="4302193"/>
                  <a:ext cx="91242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Contraction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FFC1BF7-96B4-6543-A10F-D0F75DC4FCCB}"/>
                    </a:ext>
                  </a:extLst>
                </p:cNvPr>
                <p:cNvSpPr txBox="1"/>
                <p:nvPr/>
              </p:nvSpPr>
              <p:spPr>
                <a:xfrm>
                  <a:off x="7782070" y="3616898"/>
                  <a:ext cx="64633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Plenum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B3BAF77-9FFB-B543-A4F4-208AAE800383}"/>
                    </a:ext>
                  </a:extLst>
                </p:cNvPr>
                <p:cNvSpPr txBox="1"/>
                <p:nvPr/>
              </p:nvSpPr>
              <p:spPr>
                <a:xfrm>
                  <a:off x="6206721" y="3527395"/>
                  <a:ext cx="67678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Diffuser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D917B72-655C-E544-8843-319ACD40BE01}"/>
                    </a:ext>
                  </a:extLst>
                </p:cNvPr>
                <p:cNvSpPr txBox="1"/>
                <p:nvPr/>
              </p:nvSpPr>
              <p:spPr>
                <a:xfrm>
                  <a:off x="5614583" y="3366233"/>
                  <a:ext cx="420308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Fan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49B668A-347D-C245-BD28-D5D44D18DC02}"/>
                    </a:ext>
                  </a:extLst>
                </p:cNvPr>
                <p:cNvSpPr txBox="1"/>
                <p:nvPr/>
              </p:nvSpPr>
              <p:spPr>
                <a:xfrm>
                  <a:off x="6343480" y="5182171"/>
                  <a:ext cx="73930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Collector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B20BAA7-19D5-FF47-B035-2DE2E2FF56AE}"/>
                    </a:ext>
                  </a:extLst>
                </p:cNvPr>
                <p:cNvSpPr txBox="1"/>
                <p:nvPr/>
              </p:nvSpPr>
              <p:spPr>
                <a:xfrm>
                  <a:off x="6790447" y="3954482"/>
                  <a:ext cx="90979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Open Jet Test Section</a:t>
                  </a:r>
                </a:p>
              </p:txBody>
            </p: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F7BB6870-C2E4-F34F-8453-D9ECEC4812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96224" y="4540305"/>
                  <a:ext cx="196096" cy="29319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1BADAFE6-F91A-3745-9606-71B0F72520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82070" y="3824678"/>
                  <a:ext cx="196096" cy="29319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540C9C54-53AD-FA49-9597-A662EE09B7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79193" y="3731910"/>
                  <a:ext cx="196096" cy="293196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1B65B405-59BE-1E4A-A23A-C66592EEF2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4374" y="3527395"/>
                  <a:ext cx="215019" cy="154673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5C322842-F6FB-144E-ACB4-17CC649DC8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45115" y="4644576"/>
                  <a:ext cx="100845" cy="545338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29B8BBD7-2B2F-1A45-B767-99DCB4FCA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05543" y="4386811"/>
                  <a:ext cx="372925" cy="496416"/>
                </a:xfrm>
                <a:prstGeom prst="straightConnector1">
                  <a:avLst/>
                </a:prstGeom>
                <a:ln w="28575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CBB01B5-53AF-E544-9670-6F7ACDC78A72}"/>
                    </a:ext>
                  </a:extLst>
                </p:cNvPr>
                <p:cNvSpPr/>
                <p:nvPr/>
              </p:nvSpPr>
              <p:spPr>
                <a:xfrm rot="21286367">
                  <a:off x="5263390" y="4665519"/>
                  <a:ext cx="1226682" cy="1556524"/>
                </a:xfrm>
                <a:custGeom>
                  <a:avLst/>
                  <a:gdLst>
                    <a:gd name="connsiteX0" fmla="*/ 0 w 1111039"/>
                    <a:gd name="connsiteY0" fmla="*/ 0 h 1435266"/>
                    <a:gd name="connsiteX1" fmla="*/ 1111039 w 1111039"/>
                    <a:gd name="connsiteY1" fmla="*/ 0 h 1435266"/>
                    <a:gd name="connsiteX2" fmla="*/ 1111039 w 1111039"/>
                    <a:gd name="connsiteY2" fmla="*/ 1435266 h 1435266"/>
                    <a:gd name="connsiteX3" fmla="*/ 0 w 1111039"/>
                    <a:gd name="connsiteY3" fmla="*/ 1435266 h 1435266"/>
                    <a:gd name="connsiteX4" fmla="*/ 0 w 1111039"/>
                    <a:gd name="connsiteY4" fmla="*/ 0 h 1435266"/>
                    <a:gd name="connsiteX0" fmla="*/ 0 w 1147773"/>
                    <a:gd name="connsiteY0" fmla="*/ 0 h 1435266"/>
                    <a:gd name="connsiteX1" fmla="*/ 1147773 w 1147773"/>
                    <a:gd name="connsiteY1" fmla="*/ 105385 h 1435266"/>
                    <a:gd name="connsiteX2" fmla="*/ 1111039 w 1147773"/>
                    <a:gd name="connsiteY2" fmla="*/ 1435266 h 1435266"/>
                    <a:gd name="connsiteX3" fmla="*/ 0 w 1147773"/>
                    <a:gd name="connsiteY3" fmla="*/ 1435266 h 1435266"/>
                    <a:gd name="connsiteX4" fmla="*/ 0 w 1147773"/>
                    <a:gd name="connsiteY4" fmla="*/ 0 h 1435266"/>
                    <a:gd name="connsiteX0" fmla="*/ 0 w 1185348"/>
                    <a:gd name="connsiteY0" fmla="*/ 0 h 1435266"/>
                    <a:gd name="connsiteX1" fmla="*/ 1185348 w 1185348"/>
                    <a:gd name="connsiteY1" fmla="*/ 201571 h 1435266"/>
                    <a:gd name="connsiteX2" fmla="*/ 1111039 w 1185348"/>
                    <a:gd name="connsiteY2" fmla="*/ 1435266 h 1435266"/>
                    <a:gd name="connsiteX3" fmla="*/ 0 w 1185348"/>
                    <a:gd name="connsiteY3" fmla="*/ 1435266 h 1435266"/>
                    <a:gd name="connsiteX4" fmla="*/ 0 w 1185348"/>
                    <a:gd name="connsiteY4" fmla="*/ 0 h 1435266"/>
                    <a:gd name="connsiteX0" fmla="*/ 0 w 1223765"/>
                    <a:gd name="connsiteY0" fmla="*/ 0 h 1435266"/>
                    <a:gd name="connsiteX1" fmla="*/ 1223765 w 1223765"/>
                    <a:gd name="connsiteY1" fmla="*/ 288557 h 1435266"/>
                    <a:gd name="connsiteX2" fmla="*/ 1111039 w 1223765"/>
                    <a:gd name="connsiteY2" fmla="*/ 1435266 h 1435266"/>
                    <a:gd name="connsiteX3" fmla="*/ 0 w 1223765"/>
                    <a:gd name="connsiteY3" fmla="*/ 1435266 h 1435266"/>
                    <a:gd name="connsiteX4" fmla="*/ 0 w 1223765"/>
                    <a:gd name="connsiteY4" fmla="*/ 0 h 1435266"/>
                    <a:gd name="connsiteX0" fmla="*/ 0 w 1200379"/>
                    <a:gd name="connsiteY0" fmla="*/ 0 h 1435266"/>
                    <a:gd name="connsiteX1" fmla="*/ 1200379 w 1200379"/>
                    <a:gd name="connsiteY1" fmla="*/ 240043 h 1435266"/>
                    <a:gd name="connsiteX2" fmla="*/ 1111039 w 1200379"/>
                    <a:gd name="connsiteY2" fmla="*/ 1435266 h 1435266"/>
                    <a:gd name="connsiteX3" fmla="*/ 0 w 1200379"/>
                    <a:gd name="connsiteY3" fmla="*/ 1435266 h 1435266"/>
                    <a:gd name="connsiteX4" fmla="*/ 0 w 1200379"/>
                    <a:gd name="connsiteY4" fmla="*/ 0 h 1435266"/>
                    <a:gd name="connsiteX0" fmla="*/ 0 w 1203745"/>
                    <a:gd name="connsiteY0" fmla="*/ 0 h 1435266"/>
                    <a:gd name="connsiteX1" fmla="*/ 1203745 w 1203745"/>
                    <a:gd name="connsiteY1" fmla="*/ 203251 h 1435266"/>
                    <a:gd name="connsiteX2" fmla="*/ 1111039 w 1203745"/>
                    <a:gd name="connsiteY2" fmla="*/ 1435266 h 1435266"/>
                    <a:gd name="connsiteX3" fmla="*/ 0 w 1203745"/>
                    <a:gd name="connsiteY3" fmla="*/ 1435266 h 1435266"/>
                    <a:gd name="connsiteX4" fmla="*/ 0 w 1203745"/>
                    <a:gd name="connsiteY4" fmla="*/ 0 h 1435266"/>
                    <a:gd name="connsiteX0" fmla="*/ 0 w 1203745"/>
                    <a:gd name="connsiteY0" fmla="*/ 0 h 1507167"/>
                    <a:gd name="connsiteX1" fmla="*/ 1203745 w 1203745"/>
                    <a:gd name="connsiteY1" fmla="*/ 203251 h 1507167"/>
                    <a:gd name="connsiteX2" fmla="*/ 1085911 w 1203745"/>
                    <a:gd name="connsiteY2" fmla="*/ 1507167 h 1507167"/>
                    <a:gd name="connsiteX3" fmla="*/ 0 w 1203745"/>
                    <a:gd name="connsiteY3" fmla="*/ 1435266 h 1507167"/>
                    <a:gd name="connsiteX4" fmla="*/ 0 w 1203745"/>
                    <a:gd name="connsiteY4" fmla="*/ 0 h 1507167"/>
                    <a:gd name="connsiteX0" fmla="*/ 0 w 1203745"/>
                    <a:gd name="connsiteY0" fmla="*/ 0 h 1549849"/>
                    <a:gd name="connsiteX1" fmla="*/ 1203745 w 1203745"/>
                    <a:gd name="connsiteY1" fmla="*/ 203251 h 1549849"/>
                    <a:gd name="connsiteX2" fmla="*/ 1146931 w 1203745"/>
                    <a:gd name="connsiteY2" fmla="*/ 1549849 h 1549849"/>
                    <a:gd name="connsiteX3" fmla="*/ 0 w 1203745"/>
                    <a:gd name="connsiteY3" fmla="*/ 1435266 h 1549849"/>
                    <a:gd name="connsiteX4" fmla="*/ 0 w 1203745"/>
                    <a:gd name="connsiteY4" fmla="*/ 0 h 1549849"/>
                    <a:gd name="connsiteX0" fmla="*/ 14188 w 1217933"/>
                    <a:gd name="connsiteY0" fmla="*/ 0 h 1549849"/>
                    <a:gd name="connsiteX1" fmla="*/ 1217933 w 1217933"/>
                    <a:gd name="connsiteY1" fmla="*/ 203251 h 1549849"/>
                    <a:gd name="connsiteX2" fmla="*/ 1161119 w 1217933"/>
                    <a:gd name="connsiteY2" fmla="*/ 1549849 h 1549849"/>
                    <a:gd name="connsiteX3" fmla="*/ 0 w 1217933"/>
                    <a:gd name="connsiteY3" fmla="*/ 1387593 h 1549849"/>
                    <a:gd name="connsiteX4" fmla="*/ 14188 w 1217933"/>
                    <a:gd name="connsiteY4" fmla="*/ 0 h 1549849"/>
                    <a:gd name="connsiteX0" fmla="*/ 0 w 1203745"/>
                    <a:gd name="connsiteY0" fmla="*/ 0 h 1549849"/>
                    <a:gd name="connsiteX1" fmla="*/ 1203745 w 1203745"/>
                    <a:gd name="connsiteY1" fmla="*/ 203251 h 1549849"/>
                    <a:gd name="connsiteX2" fmla="*/ 1146931 w 1203745"/>
                    <a:gd name="connsiteY2" fmla="*/ 1549849 h 1549849"/>
                    <a:gd name="connsiteX3" fmla="*/ 9257 w 1203745"/>
                    <a:gd name="connsiteY3" fmla="*/ 1334088 h 1549849"/>
                    <a:gd name="connsiteX4" fmla="*/ 0 w 1203745"/>
                    <a:gd name="connsiteY4" fmla="*/ 0 h 1549849"/>
                    <a:gd name="connsiteX0" fmla="*/ 0 w 1203745"/>
                    <a:gd name="connsiteY0" fmla="*/ 0 h 1562355"/>
                    <a:gd name="connsiteX1" fmla="*/ 1203745 w 1203745"/>
                    <a:gd name="connsiteY1" fmla="*/ 203251 h 1562355"/>
                    <a:gd name="connsiteX2" fmla="*/ 1080863 w 1203745"/>
                    <a:gd name="connsiteY2" fmla="*/ 1562355 h 1562355"/>
                    <a:gd name="connsiteX3" fmla="*/ 9257 w 1203745"/>
                    <a:gd name="connsiteY3" fmla="*/ 1334088 h 1562355"/>
                    <a:gd name="connsiteX4" fmla="*/ 0 w 1203745"/>
                    <a:gd name="connsiteY4" fmla="*/ 0 h 1562355"/>
                    <a:gd name="connsiteX0" fmla="*/ 0 w 1203745"/>
                    <a:gd name="connsiteY0" fmla="*/ 0 h 1578285"/>
                    <a:gd name="connsiteX1" fmla="*/ 1203745 w 1203745"/>
                    <a:gd name="connsiteY1" fmla="*/ 203251 h 1578285"/>
                    <a:gd name="connsiteX2" fmla="*/ 1153605 w 1203745"/>
                    <a:gd name="connsiteY2" fmla="*/ 1578285 h 1578285"/>
                    <a:gd name="connsiteX3" fmla="*/ 9257 w 1203745"/>
                    <a:gd name="connsiteY3" fmla="*/ 1334088 h 1578285"/>
                    <a:gd name="connsiteX4" fmla="*/ 0 w 1203745"/>
                    <a:gd name="connsiteY4" fmla="*/ 0 h 1578285"/>
                    <a:gd name="connsiteX0" fmla="*/ 0 w 1203745"/>
                    <a:gd name="connsiteY0" fmla="*/ 0 h 1564039"/>
                    <a:gd name="connsiteX1" fmla="*/ 1203745 w 1203745"/>
                    <a:gd name="connsiteY1" fmla="*/ 203251 h 1564039"/>
                    <a:gd name="connsiteX2" fmla="*/ 1099259 w 1203745"/>
                    <a:gd name="connsiteY2" fmla="*/ 1564039 h 1564039"/>
                    <a:gd name="connsiteX3" fmla="*/ 9257 w 1203745"/>
                    <a:gd name="connsiteY3" fmla="*/ 1334088 h 1564039"/>
                    <a:gd name="connsiteX4" fmla="*/ 0 w 1203745"/>
                    <a:gd name="connsiteY4" fmla="*/ 0 h 1564039"/>
                    <a:gd name="connsiteX0" fmla="*/ 0 w 1203745"/>
                    <a:gd name="connsiteY0" fmla="*/ 0 h 1603355"/>
                    <a:gd name="connsiteX1" fmla="*/ 1203745 w 1203745"/>
                    <a:gd name="connsiteY1" fmla="*/ 203251 h 1603355"/>
                    <a:gd name="connsiteX2" fmla="*/ 1123486 w 1203745"/>
                    <a:gd name="connsiteY2" fmla="*/ 1603355 h 1603355"/>
                    <a:gd name="connsiteX3" fmla="*/ 9257 w 1203745"/>
                    <a:gd name="connsiteY3" fmla="*/ 1334088 h 1603355"/>
                    <a:gd name="connsiteX4" fmla="*/ 0 w 1203745"/>
                    <a:gd name="connsiteY4" fmla="*/ 0 h 1603355"/>
                    <a:gd name="connsiteX0" fmla="*/ 0 w 1203745"/>
                    <a:gd name="connsiteY0" fmla="*/ 0 h 1556524"/>
                    <a:gd name="connsiteX1" fmla="*/ 1203745 w 1203745"/>
                    <a:gd name="connsiteY1" fmla="*/ 203251 h 1556524"/>
                    <a:gd name="connsiteX2" fmla="*/ 1118496 w 1203745"/>
                    <a:gd name="connsiteY2" fmla="*/ 1556524 h 1556524"/>
                    <a:gd name="connsiteX3" fmla="*/ 9257 w 1203745"/>
                    <a:gd name="connsiteY3" fmla="*/ 1334088 h 1556524"/>
                    <a:gd name="connsiteX4" fmla="*/ 0 w 1203745"/>
                    <a:gd name="connsiteY4" fmla="*/ 0 h 1556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3745" h="1556524">
                      <a:moveTo>
                        <a:pt x="0" y="0"/>
                      </a:moveTo>
                      <a:lnTo>
                        <a:pt x="1203745" y="203251"/>
                      </a:lnTo>
                      <a:lnTo>
                        <a:pt x="1118496" y="1556524"/>
                      </a:lnTo>
                      <a:lnTo>
                        <a:pt x="9257" y="1334088"/>
                      </a:lnTo>
                      <a:cubicBezTo>
                        <a:pt x="6171" y="889392"/>
                        <a:pt x="3086" y="444696"/>
                        <a:pt x="0" y="0"/>
                      </a:cubicBezTo>
                      <a:close/>
                    </a:path>
                  </a:pathLst>
                </a:custGeom>
                <a:solidFill>
                  <a:srgbClr val="ADBECA"/>
                </a:solidFill>
                <a:ln>
                  <a:noFill/>
                </a:ln>
                <a:scene3d>
                  <a:camera prst="isometricLeftDown"/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B487AC4D-724F-8D40-BBF3-7917C0F8D074}"/>
                  </a:ext>
                </a:extLst>
              </p:cNvPr>
              <p:cNvSpPr/>
              <p:nvPr/>
            </p:nvSpPr>
            <p:spPr>
              <a:xfrm>
                <a:off x="6099142" y="4251489"/>
                <a:ext cx="461914" cy="235670"/>
              </a:xfrm>
              <a:custGeom>
                <a:avLst/>
                <a:gdLst>
                  <a:gd name="connsiteX0" fmla="*/ 0 w 461914"/>
                  <a:gd name="connsiteY0" fmla="*/ 188536 h 235670"/>
                  <a:gd name="connsiteX1" fmla="*/ 377072 w 461914"/>
                  <a:gd name="connsiteY1" fmla="*/ 0 h 235670"/>
                  <a:gd name="connsiteX2" fmla="*/ 461914 w 461914"/>
                  <a:gd name="connsiteY2" fmla="*/ 65987 h 235670"/>
                  <a:gd name="connsiteX3" fmla="*/ 94268 w 461914"/>
                  <a:gd name="connsiteY3" fmla="*/ 235670 h 235670"/>
                  <a:gd name="connsiteX4" fmla="*/ 0 w 461914"/>
                  <a:gd name="connsiteY4" fmla="*/ 188536 h 235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1914" h="235670">
                    <a:moveTo>
                      <a:pt x="0" y="188536"/>
                    </a:moveTo>
                    <a:lnTo>
                      <a:pt x="377072" y="0"/>
                    </a:lnTo>
                    <a:lnTo>
                      <a:pt x="461914" y="65987"/>
                    </a:lnTo>
                    <a:lnTo>
                      <a:pt x="94268" y="235670"/>
                    </a:lnTo>
                    <a:lnTo>
                      <a:pt x="0" y="188536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2FFDBE53-A61C-D74F-B07E-5D666125D71A}"/>
                  </a:ext>
                </a:extLst>
              </p:cNvPr>
              <p:cNvSpPr/>
              <p:nvPr/>
            </p:nvSpPr>
            <p:spPr>
              <a:xfrm>
                <a:off x="6099142" y="4455459"/>
                <a:ext cx="103695" cy="414780"/>
              </a:xfrm>
              <a:custGeom>
                <a:avLst/>
                <a:gdLst>
                  <a:gd name="connsiteX0" fmla="*/ 84841 w 94268"/>
                  <a:gd name="connsiteY0" fmla="*/ 18854 h 414780"/>
                  <a:gd name="connsiteX1" fmla="*/ 0 w 94268"/>
                  <a:gd name="connsiteY1" fmla="*/ 0 h 414780"/>
                  <a:gd name="connsiteX2" fmla="*/ 0 w 94268"/>
                  <a:gd name="connsiteY2" fmla="*/ 377072 h 414780"/>
                  <a:gd name="connsiteX3" fmla="*/ 94268 w 94268"/>
                  <a:gd name="connsiteY3" fmla="*/ 414780 h 414780"/>
                  <a:gd name="connsiteX4" fmla="*/ 84841 w 94268"/>
                  <a:gd name="connsiteY4" fmla="*/ 18854 h 41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268" h="414780">
                    <a:moveTo>
                      <a:pt x="84841" y="18854"/>
                    </a:moveTo>
                    <a:lnTo>
                      <a:pt x="0" y="0"/>
                    </a:lnTo>
                    <a:lnTo>
                      <a:pt x="0" y="377072"/>
                    </a:lnTo>
                    <a:lnTo>
                      <a:pt x="94268" y="414780"/>
                    </a:lnTo>
                    <a:lnTo>
                      <a:pt x="84841" y="1885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3E534B-3FC7-2047-A6BA-35836D75FE5B}"/>
                  </a:ext>
                </a:extLst>
              </p:cNvPr>
              <p:cNvSpPr txBox="1"/>
              <p:nvPr/>
            </p:nvSpPr>
            <p:spPr>
              <a:xfrm>
                <a:off x="3716068" y="4256016"/>
                <a:ext cx="90979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Shuttering System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420240DE-6D4A-8343-A5DE-940259C91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527" y="4509751"/>
                <a:ext cx="1598666" cy="3055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440693CB-6059-774B-BFF0-C334A7A3D8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22956" y="4484540"/>
                <a:ext cx="1110299" cy="38569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8399FC2-E1A7-384A-9852-660A936D8700}"/>
                </a:ext>
              </a:extLst>
            </p:cNvPr>
            <p:cNvSpPr txBox="1"/>
            <p:nvPr/>
          </p:nvSpPr>
          <p:spPr>
            <a:xfrm>
              <a:off x="1048693" y="4684684"/>
              <a:ext cx="909791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Shutter Open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D9D065-03C4-9847-B849-60EEB6799F82}"/>
                </a:ext>
              </a:extLst>
            </p:cNvPr>
            <p:cNvSpPr txBox="1"/>
            <p:nvPr/>
          </p:nvSpPr>
          <p:spPr>
            <a:xfrm>
              <a:off x="3574819" y="4677389"/>
              <a:ext cx="909791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Shutter Closed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98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FC4D-4B79-EB4B-9BAD-4189C396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66" y="0"/>
            <a:ext cx="3686959" cy="86303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24E67-DB37-1D41-B96D-4347C81FADFD}"/>
              </a:ext>
            </a:extLst>
          </p:cNvPr>
          <p:cNvSpPr/>
          <p:nvPr/>
        </p:nvSpPr>
        <p:spPr>
          <a:xfrm>
            <a:off x="156658" y="850132"/>
            <a:ext cx="462777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Smoke flow visualization in streamwise and cross-stream directions</a:t>
            </a: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Surface flow visualizations using oil/clay/etc.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Particle Image Velocimetry (PIV) in streamwise and cross-stream directions.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Force based testing to obtain aerodynamic coefficients as a function of angle of attack.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Hot-wire anemometry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On-body and off-body unsteady pressure measurements.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Streamwise gust profile generation with sinusoidal/custom acceleration profiles with max frequency of </a:t>
            </a:r>
            <a:r>
              <a:rPr lang="en-US" sz="1600" kern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upto</a:t>
            </a: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 Hz. </a:t>
            </a:r>
            <a:endParaRPr lang="en-US" sz="1600" kern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0083E-FC16-8B42-BCEE-923CD9A01233}"/>
              </a:ext>
            </a:extLst>
          </p:cNvPr>
          <p:cNvSpPr txBox="1"/>
          <p:nvPr/>
        </p:nvSpPr>
        <p:spPr>
          <a:xfrm>
            <a:off x="974457" y="5849450"/>
            <a:ext cx="1133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Wingtip vortex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82A1C6-278C-0046-B16D-114D76024C07}"/>
              </a:ext>
            </a:extLst>
          </p:cNvPr>
          <p:cNvCxnSpPr/>
          <p:nvPr/>
        </p:nvCxnSpPr>
        <p:spPr>
          <a:xfrm flipH="1" flipV="1">
            <a:off x="974457" y="5497158"/>
            <a:ext cx="230399" cy="35229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50569E-E380-344E-81A3-7087EA57187C}"/>
              </a:ext>
            </a:extLst>
          </p:cNvPr>
          <p:cNvSpPr txBox="1"/>
          <p:nvPr/>
        </p:nvSpPr>
        <p:spPr>
          <a:xfrm>
            <a:off x="2081636" y="4404952"/>
            <a:ext cx="1078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Spitfire aircraft model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006840-0A20-AC4D-9E93-DA15B1E2EF70}"/>
              </a:ext>
            </a:extLst>
          </p:cNvPr>
          <p:cNvCxnSpPr>
            <a:cxnSpLocks/>
          </p:cNvCxnSpPr>
          <p:nvPr/>
        </p:nvCxnSpPr>
        <p:spPr>
          <a:xfrm flipH="1">
            <a:off x="2248348" y="4817926"/>
            <a:ext cx="215989" cy="34305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076D5E8-2900-764A-9D0D-D3A6729203F1}"/>
              </a:ext>
            </a:extLst>
          </p:cNvPr>
          <p:cNvPicPr/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713229"/>
            <a:ext cx="3242324" cy="20576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94A994-240C-A941-82BC-A13EEEFC19D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9276" y="189000"/>
            <a:ext cx="4028065" cy="2859524"/>
          </a:xfrm>
          <a:prstGeom prst="rect">
            <a:avLst/>
          </a:prstGeom>
        </p:spPr>
      </p:pic>
      <p:pic>
        <p:nvPicPr>
          <p:cNvPr id="23" name="Picture 22" descr="A picture containing indoor&#10;&#10;Description generated with very high confidence">
            <a:extLst>
              <a:ext uri="{FF2B5EF4-FFF2-40B4-BE49-F238E27FC236}">
                <a16:creationId xmlns:a16="http://schemas.microsoft.com/office/drawing/2014/main" id="{EC023AA6-2150-7040-808D-40B85E4796C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9086" y="3048524"/>
            <a:ext cx="2198255" cy="191763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72DE305-B2ED-EC41-BFBF-A775FEA6C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321" y="4693973"/>
            <a:ext cx="4796801" cy="207694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69F071-84C1-8E45-AC7E-994EF72AF98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39275" y="4693974"/>
            <a:ext cx="2209726" cy="2076945"/>
          </a:xfrm>
          <a:prstGeom prst="rect">
            <a:avLst/>
          </a:prstGeom>
        </p:spPr>
      </p:pic>
      <p:pic>
        <p:nvPicPr>
          <p:cNvPr id="4" name="Picture 3" descr="A black speaker on a table&#10;&#10;Description automatically generated with low confidence">
            <a:extLst>
              <a:ext uri="{FF2B5EF4-FFF2-40B4-BE49-F238E27FC236}">
                <a16:creationId xmlns:a16="http://schemas.microsoft.com/office/drawing/2014/main" id="{88910FD1-F18A-134E-86A0-9C5A6F5269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6083" y="3048523"/>
            <a:ext cx="2193929" cy="16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5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FC4D-4B79-EB4B-9BAD-4189C396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54" y="524713"/>
            <a:ext cx="3686959" cy="8630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and Qualitative Measurements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24E67-DB37-1D41-B96D-4347C81FADFD}"/>
              </a:ext>
            </a:extLst>
          </p:cNvPr>
          <p:cNvSpPr/>
          <p:nvPr/>
        </p:nvSpPr>
        <p:spPr>
          <a:xfrm>
            <a:off x="13845" y="1939066"/>
            <a:ext cx="462777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Sensors: </a:t>
            </a:r>
          </a:p>
          <a:p>
            <a:pPr algn="just"/>
            <a:endParaRPr lang="en-US" sz="1600" kern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ATI Mini-40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Digital ATI Gamma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Analog ATI Gamma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ATI Nano 25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Aerolab Sting Mount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kern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Single channel </a:t>
            </a:r>
            <a:r>
              <a:rPr lang="en-US" sz="1600" kern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Dantec</a:t>
            </a: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Hot-wire anemometer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Several unsteady pressure transducers (</a:t>
            </a:r>
            <a:r>
              <a:rPr lang="en-US" sz="1600" kern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Kulites</a:t>
            </a: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kern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Flow Visualization:</a:t>
            </a:r>
          </a:p>
          <a:p>
            <a:pPr algn="just"/>
            <a:endParaRPr lang="en-US" sz="1600" kern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Tuft flow viz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Smoke flow viz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TiO2 surface flow viz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kern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Fluorescent dye flow viz</a:t>
            </a:r>
          </a:p>
        </p:txBody>
      </p:sp>
      <p:pic>
        <p:nvPicPr>
          <p:cNvPr id="15" name="Picture 14" descr="A picture containing indoor&#10;&#10;Description automatically generated">
            <a:extLst>
              <a:ext uri="{FF2B5EF4-FFF2-40B4-BE49-F238E27FC236}">
                <a16:creationId xmlns:a16="http://schemas.microsoft.com/office/drawing/2014/main" id="{3AB93F9A-DD02-8C42-8F6A-2ECFABF614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25833" y="114300"/>
            <a:ext cx="2313542" cy="2400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picture containing indoor, wall&#10;&#10;Description automatically generated">
            <a:extLst>
              <a:ext uri="{FF2B5EF4-FFF2-40B4-BE49-F238E27FC236}">
                <a16:creationId xmlns:a16="http://schemas.microsoft.com/office/drawing/2014/main" id="{25129179-A2C8-E348-82AD-F9B5BAF48C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5832" y="2608244"/>
            <a:ext cx="2313543" cy="1735157"/>
          </a:xfrm>
          <a:prstGeom prst="rect">
            <a:avLst/>
          </a:prstGeom>
        </p:spPr>
      </p:pic>
      <p:pic>
        <p:nvPicPr>
          <p:cNvPr id="10" name="Picture 9" descr="A picture containing indoor, projector, miller&#10;&#10;Description automatically generated">
            <a:extLst>
              <a:ext uri="{FF2B5EF4-FFF2-40B4-BE49-F238E27FC236}">
                <a16:creationId xmlns:a16="http://schemas.microsoft.com/office/drawing/2014/main" id="{A6537F91-3591-694D-8AF5-1E89FB3FE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361" y="4437046"/>
            <a:ext cx="2313543" cy="1735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8F9490-B1AC-EC4D-B4F1-277C4C19A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652" y="114300"/>
            <a:ext cx="2147454" cy="1610591"/>
          </a:xfrm>
          <a:prstGeom prst="rect">
            <a:avLst/>
          </a:prstGeom>
        </p:spPr>
      </p:pic>
      <p:pic>
        <p:nvPicPr>
          <p:cNvPr id="20" name="Picture 19" descr="A picture containing person&#10;&#10;Description automatically generated">
            <a:extLst>
              <a:ext uri="{FF2B5EF4-FFF2-40B4-BE49-F238E27FC236}">
                <a16:creationId xmlns:a16="http://schemas.microsoft.com/office/drawing/2014/main" id="{F87FB868-A118-6449-A5DC-62B4EA4B3A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5653" y="1824740"/>
            <a:ext cx="2147454" cy="1610590"/>
          </a:xfrm>
          <a:prstGeom prst="rect">
            <a:avLst/>
          </a:prstGeom>
        </p:spPr>
      </p:pic>
      <p:pic>
        <p:nvPicPr>
          <p:cNvPr id="26" name="Picture 25" descr="A picture containing text, green&#10;&#10;Description automatically generated">
            <a:extLst>
              <a:ext uri="{FF2B5EF4-FFF2-40B4-BE49-F238E27FC236}">
                <a16:creationId xmlns:a16="http://schemas.microsoft.com/office/drawing/2014/main" id="{22100C70-6310-ED47-81CE-1C6FB69218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6126" y="3507096"/>
            <a:ext cx="1449532" cy="193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5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FC4D-4B79-EB4B-9BAD-4189C396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72890" cy="134982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Propeller Testing Capabilities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C33392-9DD7-4AB6-A2A7-42CF9DC74B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085804" y="195687"/>
            <a:ext cx="3971109" cy="22338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7144E4-201C-4BE2-AD49-B7C641F05EE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8197" y="2738211"/>
            <a:ext cx="4998716" cy="1550126"/>
          </a:xfrm>
          <a:prstGeom prst="rect">
            <a:avLst/>
          </a:prstGeom>
        </p:spPr>
      </p:pic>
      <p:pic>
        <p:nvPicPr>
          <p:cNvPr id="20" name="Picture 19" descr="Diagram, engineering drawing&#10;&#10;Description automatically generated">
            <a:extLst>
              <a:ext uri="{FF2B5EF4-FFF2-40B4-BE49-F238E27FC236}">
                <a16:creationId xmlns:a16="http://schemas.microsoft.com/office/drawing/2014/main" id="{F0234EA9-0B78-4DCB-B306-C72B6BA44CDB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628" y="4718286"/>
            <a:ext cx="3169285" cy="1858645"/>
          </a:xfrm>
          <a:prstGeom prst="rect">
            <a:avLst/>
          </a:prstGeom>
        </p:spPr>
      </p:pic>
      <p:pic>
        <p:nvPicPr>
          <p:cNvPr id="21" name="Picture 20" descr="Diagram&#10;&#10;Description automatically generated">
            <a:extLst>
              <a:ext uri="{FF2B5EF4-FFF2-40B4-BE49-F238E27FC236}">
                <a16:creationId xmlns:a16="http://schemas.microsoft.com/office/drawing/2014/main" id="{C016CA88-2BB7-47DE-AF55-9CFDB20F3785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5404" y="4597001"/>
            <a:ext cx="2562225" cy="1979930"/>
          </a:xfrm>
          <a:prstGeom prst="rect">
            <a:avLst/>
          </a:prstGeom>
        </p:spPr>
      </p:pic>
      <p:pic>
        <p:nvPicPr>
          <p:cNvPr id="26" name="Picture 2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CD0E4555-4C09-453E-AF2F-A9266D2C4BF8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120" y="1445714"/>
            <a:ext cx="4038600" cy="29508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41450E-2230-4E6B-8CF1-B45F1229200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120" y="4492444"/>
            <a:ext cx="2810689" cy="21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0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FC4D-4B79-EB4B-9BAD-4189C396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02"/>
            <a:ext cx="9143999" cy="86303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Image Velocimetry (PIV) Capability</a:t>
            </a:r>
          </a:p>
        </p:txBody>
      </p:sp>
      <p:pic>
        <p:nvPicPr>
          <p:cNvPr id="27" name="Content Placeholder 7" descr="http://www.dantecdynamics.com/images/content/support-and-download/research-and-education/measurement-principles/piv_overveiw.jpg">
            <a:extLst>
              <a:ext uri="{FF2B5EF4-FFF2-40B4-BE49-F238E27FC236}">
                <a16:creationId xmlns:a16="http://schemas.microsoft.com/office/drawing/2014/main" id="{3DA9E172-29E0-3949-B3CA-2D23420915B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01"/>
          <a:stretch/>
        </p:blipFill>
        <p:spPr bwMode="auto">
          <a:xfrm>
            <a:off x="125992" y="869641"/>
            <a:ext cx="4446008" cy="3058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46B7CA-0801-F948-AD15-0019E45BB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284" y="869641"/>
            <a:ext cx="4255507" cy="2974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3806D9-BD4B-054F-809C-A01E697001D7}"/>
              </a:ext>
            </a:extLst>
          </p:cNvPr>
          <p:cNvSpPr txBox="1"/>
          <p:nvPr/>
        </p:nvSpPr>
        <p:spPr>
          <a:xfrm>
            <a:off x="299603" y="4234033"/>
            <a:ext cx="85447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</a:rPr>
              <a:t>Seeding: </a:t>
            </a:r>
            <a:r>
              <a:rPr lang="en-US" dirty="0" err="1">
                <a:effectLst/>
                <a:latin typeface="Times New Roman" panose="02020603050405020304" pitchFamily="18" charset="0"/>
              </a:rPr>
              <a:t>Vicount</a:t>
            </a:r>
            <a:r>
              <a:rPr lang="en-US" dirty="0">
                <a:effectLst/>
                <a:latin typeface="Times New Roman" panose="02020603050405020304" pitchFamily="18" charset="0"/>
              </a:rPr>
              <a:t> smoke seeder with glycerin-based oil</a:t>
            </a:r>
            <a:r>
              <a:rPr lang="en-US" dirty="0">
                <a:latin typeface="Times New Roman" panose="02020603050405020304" pitchFamily="18" charset="0"/>
              </a:rPr>
              <a:t> (</a:t>
            </a:r>
            <a:r>
              <a:rPr lang="en-US" dirty="0">
                <a:effectLst/>
                <a:latin typeface="Times New Roman" panose="02020603050405020304" pitchFamily="18" charset="0"/>
              </a:rPr>
              <a:t>mean diameter of 0.2 microns).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</a:rPr>
              <a:t>Light Source: </a:t>
            </a:r>
            <a:r>
              <a:rPr lang="en-US" dirty="0">
                <a:effectLst/>
                <a:latin typeface="Times New Roman" panose="02020603050405020304" pitchFamily="18" charset="0"/>
              </a:rPr>
              <a:t>Nd: YAG frequency doubled laser (</a:t>
            </a:r>
            <a:r>
              <a:rPr lang="en-US" dirty="0" err="1">
                <a:effectLst/>
                <a:latin typeface="Times New Roman" panose="02020603050405020304" pitchFamily="18" charset="0"/>
              </a:rPr>
              <a:t>Quantel</a:t>
            </a:r>
            <a:r>
              <a:rPr lang="en-US" dirty="0">
                <a:effectLst/>
                <a:latin typeface="Times New Roman" panose="02020603050405020304" pitchFamily="18" charset="0"/>
              </a:rPr>
              <a:t> Twins CFR 300)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</a:rPr>
              <a:t>Camera: </a:t>
            </a:r>
            <a:r>
              <a:rPr lang="en-US" dirty="0">
                <a:effectLst/>
                <a:latin typeface="Times New Roman" panose="02020603050405020304" pitchFamily="18" charset="0"/>
              </a:rPr>
              <a:t>The </a:t>
            </a:r>
            <a:r>
              <a:rPr lang="en-US" dirty="0" err="1">
                <a:effectLst/>
                <a:latin typeface="Times New Roman" panose="02020603050405020304" pitchFamily="18" charset="0"/>
              </a:rPr>
              <a:t>Imperx</a:t>
            </a:r>
            <a:r>
              <a:rPr lang="en-US" dirty="0">
                <a:effectLst/>
                <a:latin typeface="Times New Roman" panose="02020603050405020304" pitchFamily="18" charset="0"/>
              </a:rPr>
              <a:t> 4 MP B2021 camera with lens control.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</a:rPr>
              <a:t>Timing Box: </a:t>
            </a:r>
            <a:r>
              <a:rPr lang="en-US" dirty="0">
                <a:effectLst/>
                <a:latin typeface="Times New Roman" panose="02020603050405020304" pitchFamily="18" charset="0"/>
              </a:rPr>
              <a:t>Quantum Composer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</a:rPr>
              <a:t>Data Post Processing: </a:t>
            </a:r>
            <a:r>
              <a:rPr lang="en-US" dirty="0">
                <a:latin typeface="Times New Roman" panose="02020603050405020304" pitchFamily="18" charset="0"/>
              </a:rPr>
              <a:t>DPIV Software</a:t>
            </a:r>
            <a:endParaRPr lang="en-US" dirty="0"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29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FC4D-4B79-EB4B-9BAD-4189C396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72" y="-14012"/>
            <a:ext cx="4578894" cy="8630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PIV Results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6C9DB9-3623-8E47-BA06-38A142F7DB8D}"/>
              </a:ext>
            </a:extLst>
          </p:cNvPr>
          <p:cNvGrpSpPr/>
          <p:nvPr/>
        </p:nvGrpSpPr>
        <p:grpSpPr>
          <a:xfrm>
            <a:off x="5649481" y="246169"/>
            <a:ext cx="3391819" cy="1792514"/>
            <a:chOff x="5649481" y="246169"/>
            <a:chExt cx="3391819" cy="179251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D672472-EFE7-9843-ADB9-DF91BBC45196}"/>
                </a:ext>
              </a:extLst>
            </p:cNvPr>
            <p:cNvGrpSpPr/>
            <p:nvPr/>
          </p:nvGrpSpPr>
          <p:grpSpPr>
            <a:xfrm>
              <a:off x="5649481" y="246169"/>
              <a:ext cx="3263916" cy="1777125"/>
              <a:chOff x="3331154" y="763406"/>
              <a:chExt cx="3263916" cy="1777125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69728C78-0BAD-4F47-BDBF-604F97BFB6E2}"/>
                  </a:ext>
                </a:extLst>
              </p:cNvPr>
              <p:cNvPicPr/>
              <p:nvPr/>
            </p:nvPicPr>
            <p:blipFill rotWithShape="1">
              <a:blip r:embed="rId3" cstate="hqprint">
                <a:clrChange>
                  <a:clrFrom>
                    <a:srgbClr val="F0F0F0"/>
                  </a:clrFrom>
                  <a:clrTo>
                    <a:srgbClr val="F0F0F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390058" y="1018365"/>
                <a:ext cx="1045638" cy="1371464"/>
              </a:xfrm>
              <a:prstGeom prst="rect">
                <a:avLst/>
              </a:prstGeom>
              <a:noFill/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18C7DD5-A403-834B-A239-1D0B3AC213C3}"/>
                  </a:ext>
                </a:extLst>
              </p:cNvPr>
              <p:cNvSpPr/>
              <p:nvPr/>
            </p:nvSpPr>
            <p:spPr>
              <a:xfrm>
                <a:off x="5461233" y="1178327"/>
                <a:ext cx="1133837" cy="10502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B87A6C3-3FFC-A646-B311-B9E59AF1E857}"/>
                  </a:ext>
                </a:extLst>
              </p:cNvPr>
              <p:cNvSpPr/>
              <p:nvPr/>
            </p:nvSpPr>
            <p:spPr>
              <a:xfrm>
                <a:off x="3393760" y="774225"/>
                <a:ext cx="1228573" cy="1080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8182ECF-C2F5-884B-A0D6-4312F7C14897}"/>
                  </a:ext>
                </a:extLst>
              </p:cNvPr>
              <p:cNvSpPr/>
              <p:nvPr/>
            </p:nvSpPr>
            <p:spPr>
              <a:xfrm>
                <a:off x="3393760" y="1427872"/>
                <a:ext cx="1228573" cy="10809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6B24E16-7695-9440-8977-F5E864183655}"/>
                  </a:ext>
                </a:extLst>
              </p:cNvPr>
              <p:cNvSpPr/>
              <p:nvPr/>
            </p:nvSpPr>
            <p:spPr>
              <a:xfrm>
                <a:off x="3393760" y="1813622"/>
                <a:ext cx="1228573" cy="6972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217BCAA9-62B6-CB47-A94F-1DB3EAA49F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hqprint">
                <a:clrChange>
                  <a:clrFrom>
                    <a:srgbClr val="F0F0F0"/>
                  </a:clrFrom>
                  <a:clrTo>
                    <a:srgbClr val="F0F0F0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31383" b="68085" l="16781" r="91781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3331154" y="1047835"/>
                <a:ext cx="2092271" cy="1311274"/>
              </a:xfrm>
              <a:prstGeom prst="rect">
                <a:avLst/>
              </a:prstGeom>
              <a:noFill/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40ACB7-D051-A447-9C76-368CAB4DDD1B}"/>
                  </a:ext>
                </a:extLst>
              </p:cNvPr>
              <p:cNvSpPr txBox="1"/>
              <p:nvPr/>
            </p:nvSpPr>
            <p:spPr>
              <a:xfrm>
                <a:off x="3713734" y="763406"/>
                <a:ext cx="5886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FOV 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398320-5648-A544-BF70-C682608AF164}"/>
                  </a:ext>
                </a:extLst>
              </p:cNvPr>
              <p:cNvSpPr txBox="1"/>
              <p:nvPr/>
            </p:nvSpPr>
            <p:spPr>
              <a:xfrm>
                <a:off x="3713734" y="2278921"/>
                <a:ext cx="5886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FOV 2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987E86-BD67-434A-A7C5-3DDB7EAEA363}"/>
                  </a:ext>
                </a:extLst>
              </p:cNvPr>
              <p:cNvSpPr txBox="1"/>
              <p:nvPr/>
            </p:nvSpPr>
            <p:spPr>
              <a:xfrm>
                <a:off x="5769816" y="1166262"/>
                <a:ext cx="5886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FOV 3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134C14-4C50-CD4D-A5F6-184A9CA62F2F}"/>
                </a:ext>
              </a:extLst>
            </p:cNvPr>
            <p:cNvSpPr/>
            <p:nvPr/>
          </p:nvSpPr>
          <p:spPr>
            <a:xfrm>
              <a:off x="7514920" y="1761684"/>
              <a:ext cx="15263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FOV – Field of View</a:t>
              </a:r>
              <a:endParaRPr lang="en-US" sz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468B917-D62A-A04D-B4DB-86E999F63603}"/>
              </a:ext>
            </a:extLst>
          </p:cNvPr>
          <p:cNvGrpSpPr/>
          <p:nvPr/>
        </p:nvGrpSpPr>
        <p:grpSpPr>
          <a:xfrm>
            <a:off x="238814" y="1503889"/>
            <a:ext cx="8802486" cy="5354111"/>
            <a:chOff x="206735" y="1000939"/>
            <a:chExt cx="8802486" cy="535411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88EFBBD-C008-CC42-95FF-A323DBA434EA}"/>
                </a:ext>
              </a:extLst>
            </p:cNvPr>
            <p:cNvPicPr/>
            <p:nvPr/>
          </p:nvPicPr>
          <p:blipFill rotWithShape="1">
            <a:blip r:embed="rId6" cstate="hqprint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66270" y="1186234"/>
              <a:ext cx="4596179" cy="1704747"/>
            </a:xfrm>
            <a:prstGeom prst="rect">
              <a:avLst/>
            </a:prstGeom>
            <a:noFill/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B1860F1-D07B-A84E-9F5E-3A612CFA5E04}"/>
                </a:ext>
              </a:extLst>
            </p:cNvPr>
            <p:cNvPicPr/>
            <p:nvPr/>
          </p:nvPicPr>
          <p:blipFill rotWithShape="1">
            <a:blip r:embed="rId7" cstate="hqprint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06735" y="2863625"/>
              <a:ext cx="4296496" cy="159459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DA54DCC-DD2B-C640-82DD-C94486B568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clrChange>
                <a:clrFrom>
                  <a:srgbClr val="F0F0F0"/>
                </a:clrFrom>
                <a:clrTo>
                  <a:srgbClr val="F0F0F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235354" y="4568372"/>
              <a:ext cx="4239257" cy="1617210"/>
            </a:xfrm>
            <a:prstGeom prst="rect">
              <a:avLst/>
            </a:prstGeom>
            <a:noFill/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5A36473-E3E7-284C-8493-EE287B3D1B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788082" y="4622595"/>
              <a:ext cx="4221139" cy="1732455"/>
            </a:xfrm>
            <a:prstGeom prst="rect">
              <a:avLst/>
            </a:prstGeom>
            <a:noFill/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6554E00-96A3-FF45-8B4C-3CAC8F7F56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791122" y="2667431"/>
              <a:ext cx="4218099" cy="1713983"/>
            </a:xfrm>
            <a:prstGeom prst="rect">
              <a:avLst/>
            </a:prstGeom>
            <a:noFill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EDC348B-35CA-7448-ABB5-D58BA50E7C3C}"/>
                    </a:ext>
                  </a:extLst>
                </p:cNvPr>
                <p:cNvSpPr txBox="1"/>
                <p:nvPr/>
              </p:nvSpPr>
              <p:spPr>
                <a:xfrm>
                  <a:off x="2152149" y="1000939"/>
                  <a:ext cx="61747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</m:acc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EDC348B-35CA-7448-ABB5-D58BA50E7C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2149" y="1000939"/>
                  <a:ext cx="617477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0BD9979-C7FE-3A46-B931-E0D16411A39B}"/>
                    </a:ext>
                  </a:extLst>
                </p:cNvPr>
                <p:cNvSpPr txBox="1"/>
                <p:nvPr/>
              </p:nvSpPr>
              <p:spPr>
                <a:xfrm>
                  <a:off x="2011341" y="2751535"/>
                  <a:ext cx="8990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0" smtClean="0">
                                    <a:latin typeface="Cambria Math" panose="02040503050406030204" pitchFamily="18" charset="0"/>
                                  </a:rPr>
                                  <m:t>𝛚</m:t>
                                </m:r>
                              </m:e>
                              <m:sub>
                                <m:r>
                                  <a:rPr lang="en-US" sz="1200" b="1" i="0" smtClean="0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sub>
                            </m:sSub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𝐜</m:t>
                            </m:r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0BD9979-C7FE-3A46-B931-E0D16411A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1341" y="2751535"/>
                  <a:ext cx="899092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6F7085B-F6A5-3C49-BDA2-7DDCA23282A5}"/>
                    </a:ext>
                  </a:extLst>
                </p:cNvPr>
                <p:cNvSpPr txBox="1"/>
                <p:nvPr/>
              </p:nvSpPr>
              <p:spPr>
                <a:xfrm>
                  <a:off x="2066580" y="4424758"/>
                  <a:ext cx="788613" cy="28116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p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p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/</m:t>
                        </m:r>
                        <m:sSubSup>
                          <m:sSub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sz="12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6F7085B-F6A5-3C49-BDA2-7DDCA23282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6580" y="4424758"/>
                  <a:ext cx="788613" cy="281167"/>
                </a:xfrm>
                <a:prstGeom prst="rect">
                  <a:avLst/>
                </a:prstGeom>
                <a:blipFill>
                  <a:blip r:embed="rId13"/>
                  <a:stretch>
                    <a:fillRect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7DC062-4AA1-1B4F-B7A6-1733832B4641}"/>
                    </a:ext>
                  </a:extLst>
                </p:cNvPr>
                <p:cNvSpPr txBox="1"/>
                <p:nvPr/>
              </p:nvSpPr>
              <p:spPr>
                <a:xfrm>
                  <a:off x="6004608" y="2458437"/>
                  <a:ext cx="20281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𝐏𝐎𝐃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𝐌𝐨𝐝𝐞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𝐯𝐞𝐥𝐨𝐜𝐢𝐭𝐲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47DC062-4AA1-1B4F-B7A6-1733832B46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608" y="2458437"/>
                  <a:ext cx="2028119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C39C6DF-F566-EC42-8D8F-FB8FE302A884}"/>
                    </a:ext>
                  </a:extLst>
                </p:cNvPr>
                <p:cNvSpPr txBox="1"/>
                <p:nvPr/>
              </p:nvSpPr>
              <p:spPr>
                <a:xfrm>
                  <a:off x="6011020" y="4381414"/>
                  <a:ext cx="20217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𝐏𝐎𝐃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𝐌𝐨𝐝𝐞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1" i="0" smtClean="0">
                            <a:latin typeface="Cambria Math" panose="02040503050406030204" pitchFamily="18" charset="0"/>
                          </a:rPr>
                          <m:t>𝐯𝐞𝐥𝐨𝐜𝐢𝐭𝐲</m:t>
                        </m:r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C39C6DF-F566-EC42-8D8F-FB8FE302A8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1020" y="4381414"/>
                  <a:ext cx="2021707" cy="276999"/>
                </a:xfrm>
                <a:prstGeom prst="rect">
                  <a:avLst/>
                </a:prstGeom>
                <a:blipFill>
                  <a:blip r:embed="rId1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B552179-9D54-7C47-BF32-68ED304C5CEE}"/>
              </a:ext>
            </a:extLst>
          </p:cNvPr>
          <p:cNvSpPr/>
          <p:nvPr/>
        </p:nvSpPr>
        <p:spPr>
          <a:xfrm>
            <a:off x="408472" y="731879"/>
            <a:ext cx="4572000" cy="7159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2743200" algn="ctr"/>
              </a:tabLst>
            </a:pP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Eric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Insana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“Low Reynolds number experimental aerodynamic verification of the scaled and LEWICE simulated ice accretions in SLD conditions”, Master’s Thesis, 2020, University of Dayton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102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DDD4537-28C0-42B2-9E40-740158240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68" y="1023919"/>
            <a:ext cx="5791581" cy="31492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9934518-239E-4658-A136-FFFD4829B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549" y="969159"/>
            <a:ext cx="2460987" cy="1845741"/>
          </a:xfrm>
          <a:prstGeom prst="rect">
            <a:avLst/>
          </a:prstGeom>
          <a:scene3d>
            <a:camera prst="orthographicFront">
              <a:rot lat="0" lon="0" rev="21480000"/>
            </a:camera>
            <a:lightRig rig="threePt" dir="t"/>
          </a:scene3d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9B21356-C3C5-4792-AD16-CD0F48B8FAFB}"/>
              </a:ext>
            </a:extLst>
          </p:cNvPr>
          <p:cNvSpPr/>
          <p:nvPr/>
        </p:nvSpPr>
        <p:spPr>
          <a:xfrm>
            <a:off x="148968" y="914400"/>
            <a:ext cx="8846064" cy="1095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038518-A3C7-4F2C-B747-3F9E56F81EC3}"/>
              </a:ext>
            </a:extLst>
          </p:cNvPr>
          <p:cNvSpPr/>
          <p:nvPr/>
        </p:nvSpPr>
        <p:spPr>
          <a:xfrm rot="5400000">
            <a:off x="6704326" y="2389831"/>
            <a:ext cx="3394420" cy="327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95CC05-2CF4-47F8-AEEA-9753A3A647F9}"/>
              </a:ext>
            </a:extLst>
          </p:cNvPr>
          <p:cNvSpPr/>
          <p:nvPr/>
        </p:nvSpPr>
        <p:spPr>
          <a:xfrm rot="5400000" flipV="1">
            <a:off x="4291926" y="2520923"/>
            <a:ext cx="325876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256724E-839A-4377-8C7F-9599A4C31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789" y="2453101"/>
            <a:ext cx="2293421" cy="172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9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4405</TotalTime>
  <Words>413</Words>
  <Application>Microsoft Office PowerPoint</Application>
  <PresentationFormat>On-screen Show (4:3)</PresentationFormat>
  <Paragraphs>79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University of Dayton Wind Tunnel</vt:lpstr>
      <vt:lpstr>Specifications</vt:lpstr>
      <vt:lpstr>Capabilities</vt:lpstr>
      <vt:lpstr>Quantitative and Qualitative Measurements </vt:lpstr>
      <vt:lpstr>Propeller Testing Capabilities</vt:lpstr>
      <vt:lpstr>Particle Image Velocimetry (PIV) Capability</vt:lpstr>
      <vt:lpstr>Example PIV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 Water Tunnel</dc:title>
  <dc:creator>Sidaard Gunasekaran</dc:creator>
  <cp:lastModifiedBy>Sid Gunasekaran</cp:lastModifiedBy>
  <cp:revision>183</cp:revision>
  <cp:lastPrinted>2020-07-10T04:19:15Z</cp:lastPrinted>
  <dcterms:created xsi:type="dcterms:W3CDTF">2020-07-08T18:24:36Z</dcterms:created>
  <dcterms:modified xsi:type="dcterms:W3CDTF">2025-03-21T21:26:33Z</dcterms:modified>
</cp:coreProperties>
</file>